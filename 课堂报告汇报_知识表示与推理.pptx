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474720"/>
          </a:xfrm>
          <a:prstGeom prst="rect">
            <a:avLst/>
          </a:prstGeom>
          <a:noFill/>
        </p:spPr>
        <p:txBody>
          <a:bodyPr wrap="square">
            <a:spAutoFit/>
          </a:bodyPr>
          <a:lstStyle/>
          <a:p>
            <a:pPr>
              <a:spcAft>
                <a:spcPts val="1400"/>
              </a:spcAft>
              <a:defRPr sz="1800" b="1">
                <a:solidFill>
                  <a:srgbClr val="0EA5E9"/>
                </a:solidFill>
                <a:latin typeface="微软雅黑"/>
              </a:defRPr>
            </a:pPr>
            <a:r>
              <a:t>人工智能实践专题报告 · 知识表示与推理</a:t>
            </a:r>
          </a:p>
          <a:p>
            <a:pPr>
              <a:spcAft>
                <a:spcPts val="2400"/>
              </a:spcAft>
              <a:defRPr sz="3600" b="1">
                <a:solidFill>
                  <a:srgbClr val="FFFFFF"/>
                </a:solidFill>
                <a:latin typeface="微软雅黑"/>
              </a:defRPr>
            </a:pPr>
            <a:r>
              <a:t>基于产生式规则与知识图谱的</a:t>
            </a:r>
            <a:br/>
            <a:r>
              <a:t>经典动物智能识别与属性推理系统</a:t>
            </a:r>
          </a:p>
          <a:p>
            <a:pPr>
              <a:defRPr sz="1400">
                <a:solidFill>
                  <a:srgbClr val="CBD5E1"/>
                </a:solidFill>
                <a:latin typeface="微软雅黑"/>
              </a:defRPr>
            </a:pPr>
            <a:r>
              <a:t>汇报小组：第12组  |  指导课程：人工智能（26秋）  |  通俗实用的双驱动推理实践</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65760"/>
          </a:xfrm>
          <a:prstGeom prst="rect">
            <a:avLst/>
          </a:prstGeom>
          <a:noFill/>
        </p:spPr>
        <p:txBody>
          <a:bodyPr wrap="none">
            <a:spAutoFit/>
          </a:bodyPr>
          <a:lstStyle/>
          <a:p>
            <a:pPr>
              <a:defRPr sz="1100" b="1">
                <a:solidFill>
                  <a:srgbClr val="0EA5E9"/>
                </a:solidFill>
                <a:latin typeface="微软雅黑"/>
              </a:defRPr>
            </a:pPr>
            <a:r>
              <a:t>人工智能（26秋）课堂报告1：知识表示与推理</a:t>
            </a:r>
          </a:p>
        </p:txBody>
      </p:sp>
      <p:sp>
        <p:nvSpPr>
          <p:cNvPr id="4" name="TextBox 3"/>
          <p:cNvSpPr txBox="1"/>
          <p:nvPr/>
        </p:nvSpPr>
        <p:spPr>
          <a:xfrm>
            <a:off x="731520" y="640080"/>
            <a:ext cx="10515600" cy="731520"/>
          </a:xfrm>
          <a:prstGeom prst="rect">
            <a:avLst/>
          </a:prstGeom>
          <a:noFill/>
        </p:spPr>
        <p:txBody>
          <a:bodyPr wrap="none">
            <a:spAutoFit/>
          </a:bodyPr>
          <a:lstStyle/>
          <a:p>
            <a:pPr>
              <a:defRPr sz="2400" b="1">
                <a:solidFill>
                  <a:srgbClr val="1E3A8A"/>
                </a:solidFill>
                <a:latin typeface="微软雅黑"/>
              </a:defRPr>
            </a:pPr>
            <a:r>
              <a:t>背景与目标：让机器学会'像人类专家一样层层推导'</a:t>
            </a:r>
          </a:p>
        </p:txBody>
      </p:sp>
      <p:sp>
        <p:nvSpPr>
          <p:cNvPr id="5" name="Rounded Rectangle 4"/>
          <p:cNvSpPr/>
          <p:nvPr/>
        </p:nvSpPr>
        <p:spPr>
          <a:xfrm>
            <a:off x="731520" y="164592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663440" cy="4206240"/>
          </a:xfrm>
          <a:prstGeom prst="rect">
            <a:avLst/>
          </a:prstGeom>
          <a:noFill/>
        </p:spPr>
        <p:txBody>
          <a:bodyPr wrap="square">
            <a:spAutoFit/>
          </a:bodyPr>
          <a:lstStyle/>
          <a:p>
            <a:pPr>
              <a:spcAft>
                <a:spcPts val="1000"/>
              </a:spcAft>
              <a:defRPr sz="1600" b="1">
                <a:solidFill>
                  <a:srgbClr val="1E3A8A"/>
                </a:solidFill>
                <a:latin typeface="微软雅黑"/>
              </a:defRPr>
            </a:pPr>
            <a:r>
              <a:t>🤔 为什么要做动物推理系统？</a:t>
            </a:r>
          </a:p>
          <a:p>
            <a:pPr>
              <a:spcAft>
                <a:spcPts val="500"/>
              </a:spcAft>
              <a:defRPr sz="1200">
                <a:solidFill>
                  <a:srgbClr val="0F172A"/>
                </a:solidFill>
                <a:latin typeface="微软雅黑"/>
              </a:defRPr>
            </a:pPr>
            <a:r>
              <a:t>• 零散特征难以直接归纳：普通人在野外科考或科普中只能观察到零散外形（如'黄褐色'、'有条纹'），缺乏系统分类推导能力。</a:t>
            </a:r>
          </a:p>
          <a:p>
            <a:pPr>
              <a:spcAft>
                <a:spcPts val="500"/>
              </a:spcAft>
              <a:defRPr sz="1200">
                <a:solidFill>
                  <a:srgbClr val="0F172A"/>
                </a:solidFill>
                <a:latin typeface="微软雅黑"/>
              </a:defRPr>
            </a:pPr>
            <a:r>
              <a:t>• 传统检索缺乏逻辑：查表检索机械呆板，无法回答'为什么是该动物'的推导过程。</a:t>
            </a:r>
          </a:p>
          <a:p>
            <a:pPr>
              <a:spcAft>
                <a:spcPts val="500"/>
              </a:spcAft>
              <a:defRPr sz="1200">
                <a:solidFill>
                  <a:srgbClr val="0F172A"/>
                </a:solidFill>
                <a:latin typeface="微软雅黑"/>
              </a:defRPr>
            </a:pPr>
            <a:r>
              <a:t>• 现代深度学习是黑盒：单纯图像分类无法展现分类学演化逻辑，缺乏透明可解释性。</a:t>
            </a:r>
          </a:p>
          <a:p>
            <a:pPr>
              <a:spcAft>
                <a:spcPts val="500"/>
              </a:spcAft>
              <a:defRPr sz="1200">
                <a:solidFill>
                  <a:srgbClr val="0F172A"/>
                </a:solidFill>
                <a:latin typeface="微软雅黑"/>
              </a:defRPr>
            </a:pPr>
            <a:r>
              <a:t>• 符号主义AI的经典价值：推导过程步步可查、结论完全有据可依、绝无幻觉。</a:t>
            </a:r>
          </a:p>
        </p:txBody>
      </p:sp>
      <p:sp>
        <p:nvSpPr>
          <p:cNvPr id="7" name="Rounded Rectangle 6"/>
          <p:cNvSpPr/>
          <p:nvPr/>
        </p:nvSpPr>
        <p:spPr>
          <a:xfrm>
            <a:off x="6217920" y="1645920"/>
            <a:ext cx="5120640" cy="4572000"/>
          </a:xfrm>
          <a:prstGeom prst="roundRect">
            <a:avLst/>
          </a:prstGeom>
          <a:solidFill>
            <a:srgbClr val="FFFFFF"/>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28800"/>
            <a:ext cx="4663440" cy="4206240"/>
          </a:xfrm>
          <a:prstGeom prst="rect">
            <a:avLst/>
          </a:prstGeom>
          <a:noFill/>
        </p:spPr>
        <p:txBody>
          <a:bodyPr wrap="square">
            <a:spAutoFit/>
          </a:bodyPr>
          <a:lstStyle/>
          <a:p>
            <a:pPr>
              <a:spcAft>
                <a:spcPts val="1000"/>
              </a:spcAft>
              <a:defRPr sz="1600" b="1">
                <a:solidFill>
                  <a:srgbClr val="0EA5E9"/>
                </a:solidFill>
                <a:latin typeface="微软雅黑"/>
              </a:defRPr>
            </a:pPr>
            <a:r>
              <a:t>🎯 本项目核心研发目标</a:t>
            </a:r>
          </a:p>
          <a:p>
            <a:pPr>
              <a:spcAft>
                <a:spcPts val="500"/>
              </a:spcAft>
              <a:defRPr sz="1200">
                <a:solidFill>
                  <a:srgbClr val="0F172A"/>
                </a:solidFill>
                <a:latin typeface="微软雅黑"/>
              </a:defRPr>
            </a:pPr>
            <a:r>
              <a:t>• 双知识表示结合：融合产生式规则（因果经验）与知识图谱（百科网络）。</a:t>
            </a:r>
          </a:p>
          <a:p>
            <a:pPr>
              <a:spcAft>
                <a:spcPts val="500"/>
              </a:spcAft>
              <a:defRPr sz="1200">
                <a:solidFill>
                  <a:srgbClr val="0F172A"/>
                </a:solidFill>
                <a:latin typeface="微软雅黑"/>
              </a:defRPr>
            </a:pPr>
            <a:r>
              <a:t>• 多步正向演绎：支持从外在特征递推中间事实（如哺乳类/食肉类），最终锁定目标物种。</a:t>
            </a:r>
          </a:p>
          <a:p>
            <a:pPr>
              <a:spcAft>
                <a:spcPts val="500"/>
              </a:spcAft>
              <a:defRPr sz="1200">
                <a:solidFill>
                  <a:srgbClr val="0F172A"/>
                </a:solidFill>
                <a:latin typeface="微软雅黑"/>
              </a:defRPr>
            </a:pPr>
            <a:r>
              <a:t>• 知识图谱属性关联：识别出动物后，自动通过图路径检索其生活环境、保护级别等生态百科。</a:t>
            </a:r>
          </a:p>
          <a:p>
            <a:pPr>
              <a:spcAft>
                <a:spcPts val="500"/>
              </a:spcAft>
              <a:defRPr sz="1200">
                <a:solidFill>
                  <a:srgbClr val="0F172A"/>
                </a:solidFill>
                <a:latin typeface="微软雅黑"/>
              </a:defRPr>
            </a:pPr>
            <a:r>
              <a:t>• 轻量极速交互：代码简洁、单次推导耗时&lt;1ms，提供直观的 Web 演示界面。</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65760"/>
          </a:xfrm>
          <a:prstGeom prst="rect">
            <a:avLst/>
          </a:prstGeom>
          <a:noFill/>
        </p:spPr>
        <p:txBody>
          <a:bodyPr wrap="none">
            <a:spAutoFit/>
          </a:bodyPr>
          <a:lstStyle/>
          <a:p>
            <a:pPr>
              <a:defRPr sz="1100" b="1">
                <a:solidFill>
                  <a:srgbClr val="0EA5E9"/>
                </a:solidFill>
                <a:latin typeface="微软雅黑"/>
              </a:defRPr>
            </a:pPr>
            <a:r>
              <a:t>人工智能（26秋）课堂报告1：知识表示与推理</a:t>
            </a:r>
          </a:p>
        </p:txBody>
      </p:sp>
      <p:sp>
        <p:nvSpPr>
          <p:cNvPr id="4" name="TextBox 3"/>
          <p:cNvSpPr txBox="1"/>
          <p:nvPr/>
        </p:nvSpPr>
        <p:spPr>
          <a:xfrm>
            <a:off x="731520" y="640080"/>
            <a:ext cx="10515600" cy="731520"/>
          </a:xfrm>
          <a:prstGeom prst="rect">
            <a:avLst/>
          </a:prstGeom>
          <a:noFill/>
        </p:spPr>
        <p:txBody>
          <a:bodyPr wrap="none">
            <a:spAutoFit/>
          </a:bodyPr>
          <a:lstStyle/>
          <a:p>
            <a:pPr>
              <a:defRPr sz="2400" b="1">
                <a:solidFill>
                  <a:srgbClr val="1E3A8A"/>
                </a:solidFill>
                <a:latin typeface="微软雅黑"/>
              </a:defRPr>
            </a:pPr>
            <a:r>
              <a:t>核心任务(一)：两种主流知识表示方法深度对比</a:t>
            </a:r>
          </a:p>
        </p:txBody>
      </p:sp>
      <p:sp>
        <p:nvSpPr>
          <p:cNvPr id="5" name="Rounded Rectangle 4"/>
          <p:cNvSpPr/>
          <p:nvPr/>
        </p:nvSpPr>
        <p:spPr>
          <a:xfrm>
            <a:off x="731520" y="164592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663440" cy="4206240"/>
          </a:xfrm>
          <a:prstGeom prst="rect">
            <a:avLst/>
          </a:prstGeom>
          <a:noFill/>
        </p:spPr>
        <p:txBody>
          <a:bodyPr wrap="square">
            <a:spAutoFit/>
          </a:bodyPr>
          <a:lstStyle/>
          <a:p>
            <a:pPr>
              <a:spcAft>
                <a:spcPts val="1000"/>
              </a:spcAft>
              <a:defRPr sz="1600" b="1">
                <a:solidFill>
                  <a:srgbClr val="1E3A8A"/>
                </a:solidFill>
                <a:latin typeface="微软雅黑"/>
              </a:defRPr>
            </a:pPr>
            <a:r>
              <a:t>🧠 方法一：产生式规则 (IF-THEN)</a:t>
            </a:r>
          </a:p>
          <a:p>
            <a:pPr>
              <a:spcAft>
                <a:spcPts val="500"/>
              </a:spcAft>
              <a:defRPr sz="1200">
                <a:solidFill>
                  <a:srgbClr val="0F172A"/>
                </a:solidFill>
                <a:latin typeface="微软雅黑"/>
              </a:defRPr>
            </a:pPr>
            <a:r>
              <a:t>• 核心逻辑：条件-动作对。IF (前提条件组合) THEN (推导结论)。</a:t>
            </a:r>
          </a:p>
          <a:p>
            <a:pPr>
              <a:spcAft>
                <a:spcPts val="500"/>
              </a:spcAft>
              <a:defRPr sz="1200">
                <a:solidFill>
                  <a:srgbClr val="0F172A"/>
                </a:solidFill>
                <a:latin typeface="微软雅黑"/>
              </a:defRPr>
            </a:pPr>
            <a:r>
              <a:t>• 表示能力：模块化高，非常适于表达分类学专家经验与因果条件分支。</a:t>
            </a:r>
          </a:p>
          <a:p>
            <a:pPr>
              <a:spcAft>
                <a:spcPts val="500"/>
              </a:spcAft>
              <a:defRPr sz="1200">
                <a:solidFill>
                  <a:srgbClr val="0F172A"/>
                </a:solidFill>
                <a:latin typeface="微软雅黑"/>
              </a:defRPr>
            </a:pPr>
            <a:r>
              <a:t>• 推理机制：正向演绎（数据驱动）或反向推理（目标假设验证）。</a:t>
            </a:r>
          </a:p>
          <a:p>
            <a:pPr>
              <a:spcAft>
                <a:spcPts val="500"/>
              </a:spcAft>
              <a:defRPr sz="1200">
                <a:solidFill>
                  <a:srgbClr val="0F172A"/>
                </a:solidFill>
                <a:latin typeface="微软雅黑"/>
              </a:defRPr>
            </a:pPr>
            <a:r>
              <a:t>• 局限性：规则库庞大时维护困难，难以表达多对多的实体关系网。</a:t>
            </a:r>
          </a:p>
          <a:p>
            <a:pPr>
              <a:spcAft>
                <a:spcPts val="500"/>
              </a:spcAft>
              <a:defRPr sz="1200">
                <a:solidFill>
                  <a:srgbClr val="0F172A"/>
                </a:solidFill>
                <a:latin typeface="微软雅黑"/>
              </a:defRPr>
            </a:pPr>
            <a:r>
              <a:t>• 典型适用场景：专家系统、医疗初步诊断、故障定位系统。</a:t>
            </a:r>
          </a:p>
        </p:txBody>
      </p:sp>
      <p:sp>
        <p:nvSpPr>
          <p:cNvPr id="7" name="Rounded Rectangle 6"/>
          <p:cNvSpPr/>
          <p:nvPr/>
        </p:nvSpPr>
        <p:spPr>
          <a:xfrm>
            <a:off x="6217920" y="164592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28800"/>
            <a:ext cx="4663440" cy="4206240"/>
          </a:xfrm>
          <a:prstGeom prst="rect">
            <a:avLst/>
          </a:prstGeom>
          <a:noFill/>
        </p:spPr>
        <p:txBody>
          <a:bodyPr wrap="square">
            <a:spAutoFit/>
          </a:bodyPr>
          <a:lstStyle/>
          <a:p>
            <a:pPr>
              <a:spcAft>
                <a:spcPts val="1000"/>
              </a:spcAft>
              <a:defRPr sz="1600" b="1">
                <a:solidFill>
                  <a:srgbClr val="1E3A8A"/>
                </a:solidFill>
                <a:latin typeface="微软雅黑"/>
              </a:defRPr>
            </a:pPr>
            <a:r>
              <a:t>🌐 方法二：知识图谱 / 语义网络 (RDF)</a:t>
            </a:r>
          </a:p>
          <a:p>
            <a:pPr>
              <a:spcAft>
                <a:spcPts val="500"/>
              </a:spcAft>
              <a:defRPr sz="1200">
                <a:solidFill>
                  <a:srgbClr val="0F172A"/>
                </a:solidFill>
                <a:latin typeface="微软雅黑"/>
              </a:defRPr>
            </a:pPr>
            <a:r>
              <a:t>• 核心逻辑：主体-关系-客体三元组 (Head, Relation, Tail)。</a:t>
            </a:r>
          </a:p>
          <a:p>
            <a:pPr>
              <a:spcAft>
                <a:spcPts val="500"/>
              </a:spcAft>
              <a:defRPr sz="1200">
                <a:solidFill>
                  <a:srgbClr val="0F172A"/>
                </a:solidFill>
                <a:latin typeface="微软雅黑"/>
              </a:defRPr>
            </a:pPr>
            <a:r>
              <a:t>• 表示能力：网状拓扑化，擅长刻画实体间的复杂层级、属性与多维关系关联。</a:t>
            </a:r>
          </a:p>
          <a:p>
            <a:pPr>
              <a:spcAft>
                <a:spcPts val="500"/>
              </a:spcAft>
              <a:defRPr sz="1200">
                <a:solidFill>
                  <a:srgbClr val="0F172A"/>
                </a:solidFill>
                <a:latin typeface="微软雅黑"/>
              </a:defRPr>
            </a:pPr>
            <a:r>
              <a:t>• 推理机制：图遍历、最短路径检索、子图模式匹配、图嵌入预测。</a:t>
            </a:r>
          </a:p>
          <a:p>
            <a:pPr>
              <a:spcAft>
                <a:spcPts val="500"/>
              </a:spcAft>
              <a:defRPr sz="1200">
                <a:solidFill>
                  <a:srgbClr val="0F172A"/>
                </a:solidFill>
                <a:latin typeface="微软雅黑"/>
              </a:defRPr>
            </a:pPr>
            <a:r>
              <a:t>• 局限性：不擅长直接表达复杂的'与/或'条件逻辑与动态推断演化。</a:t>
            </a:r>
          </a:p>
          <a:p>
            <a:pPr>
              <a:spcAft>
                <a:spcPts val="500"/>
              </a:spcAft>
              <a:defRPr sz="1200">
                <a:solidFill>
                  <a:srgbClr val="0F172A"/>
                </a:solidFill>
                <a:latin typeface="微软雅黑"/>
              </a:defRPr>
            </a:pPr>
            <a:r>
              <a:t>• 典型适用场景：搜索引擎知识卡片、智能推荐、GraphRAG 大模型知识库。</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65760"/>
          </a:xfrm>
          <a:prstGeom prst="rect">
            <a:avLst/>
          </a:prstGeom>
          <a:noFill/>
        </p:spPr>
        <p:txBody>
          <a:bodyPr wrap="none">
            <a:spAutoFit/>
          </a:bodyPr>
          <a:lstStyle/>
          <a:p>
            <a:pPr>
              <a:defRPr sz="1100" b="1">
                <a:solidFill>
                  <a:srgbClr val="0EA5E9"/>
                </a:solidFill>
                <a:latin typeface="微软雅黑"/>
              </a:defRPr>
            </a:pPr>
            <a:r>
              <a:t>人工智能（26秋）课堂报告1：知识表示与推理</a:t>
            </a:r>
          </a:p>
        </p:txBody>
      </p:sp>
      <p:sp>
        <p:nvSpPr>
          <p:cNvPr id="4" name="TextBox 3"/>
          <p:cNvSpPr txBox="1"/>
          <p:nvPr/>
        </p:nvSpPr>
        <p:spPr>
          <a:xfrm>
            <a:off x="731520" y="640080"/>
            <a:ext cx="10515600" cy="731520"/>
          </a:xfrm>
          <a:prstGeom prst="rect">
            <a:avLst/>
          </a:prstGeom>
          <a:noFill/>
        </p:spPr>
        <p:txBody>
          <a:bodyPr wrap="none">
            <a:spAutoFit/>
          </a:bodyPr>
          <a:lstStyle/>
          <a:p>
            <a:pPr>
              <a:defRPr sz="2400" b="1">
                <a:solidFill>
                  <a:srgbClr val="1E3A8A"/>
                </a:solidFill>
                <a:latin typeface="微软雅黑"/>
              </a:defRPr>
            </a:pPr>
            <a:r>
              <a:t>核心任务(二)：系统落地流程与双驱动架构</a:t>
            </a:r>
          </a:p>
        </p:txBody>
      </p:sp>
      <p:sp>
        <p:nvSpPr>
          <p:cNvPr id="5" name="Rounded Rectangle 4"/>
          <p:cNvSpPr/>
          <p:nvPr/>
        </p:nvSpPr>
        <p:spPr>
          <a:xfrm>
            <a:off x="731520" y="164592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926080" cy="4206240"/>
          </a:xfrm>
          <a:prstGeom prst="rect">
            <a:avLst/>
          </a:prstGeom>
          <a:noFill/>
        </p:spPr>
        <p:txBody>
          <a:bodyPr wrap="square">
            <a:spAutoFit/>
          </a:bodyPr>
          <a:lstStyle/>
          <a:p>
            <a:pPr>
              <a:spcAft>
                <a:spcPts val="1000"/>
              </a:spcAft>
              <a:defRPr sz="1600" b="1">
                <a:solidFill>
                  <a:srgbClr val="1E3A8A"/>
                </a:solidFill>
                <a:latin typeface="微软雅黑"/>
              </a:defRPr>
            </a:pPr>
            <a:r>
              <a:t>1. 知识建模层 (表示)</a:t>
            </a:r>
          </a:p>
          <a:p>
            <a:pPr>
              <a:spcAft>
                <a:spcPts val="500"/>
              </a:spcAft>
              <a:defRPr sz="1200">
                <a:solidFill>
                  <a:srgbClr val="0F172A"/>
                </a:solidFill>
                <a:latin typeface="微软雅黑"/>
              </a:defRPr>
            </a:pPr>
            <a:r>
              <a:t>• 分类学规则库：编码13条经典产生式规则（涵盖哺乳纲、鸟类、食肉目、有蹄类）。</a:t>
            </a:r>
          </a:p>
          <a:p>
            <a:pPr>
              <a:spcAft>
                <a:spcPts val="500"/>
              </a:spcAft>
              <a:defRPr sz="1200">
                <a:solidFill>
                  <a:srgbClr val="0F172A"/>
                </a:solidFill>
                <a:latin typeface="微软雅黑"/>
              </a:defRPr>
            </a:pPr>
            <a:r>
              <a:t>• 动物百科图谱：构建物种生活环境、国家保护级别、天敌与特殊能力三元组网络。</a:t>
            </a:r>
          </a:p>
        </p:txBody>
      </p:sp>
      <p:sp>
        <p:nvSpPr>
          <p:cNvPr id="7" name="Rounded Rectangle 6"/>
          <p:cNvSpPr/>
          <p:nvPr/>
        </p:nvSpPr>
        <p:spPr>
          <a:xfrm>
            <a:off x="4389120" y="1645920"/>
            <a:ext cx="3383280" cy="4572000"/>
          </a:xfrm>
          <a:prstGeom prst="roundRect">
            <a:avLst/>
          </a:prstGeom>
          <a:solidFill>
            <a:srgbClr val="FFFFFF"/>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828800"/>
            <a:ext cx="2926080" cy="4206240"/>
          </a:xfrm>
          <a:prstGeom prst="rect">
            <a:avLst/>
          </a:prstGeom>
          <a:noFill/>
        </p:spPr>
        <p:txBody>
          <a:bodyPr wrap="square">
            <a:spAutoFit/>
          </a:bodyPr>
          <a:lstStyle/>
          <a:p>
            <a:pPr>
              <a:spcAft>
                <a:spcPts val="1000"/>
              </a:spcAft>
              <a:defRPr sz="1600" b="1">
                <a:solidFill>
                  <a:srgbClr val="0EA5E9"/>
                </a:solidFill>
                <a:latin typeface="微软雅黑"/>
              </a:defRPr>
            </a:pPr>
            <a:r>
              <a:t>2. 智能推理机层 (算法)</a:t>
            </a:r>
          </a:p>
          <a:p>
            <a:pPr>
              <a:spcAft>
                <a:spcPts val="500"/>
              </a:spcAft>
              <a:defRPr sz="1200">
                <a:solidFill>
                  <a:srgbClr val="0F172A"/>
                </a:solidFill>
                <a:latin typeface="微软雅黑"/>
              </a:defRPr>
            </a:pPr>
            <a:r>
              <a:t>• 正向演绎机：事实驱动，循环匹配规则前提，新事实动态回填更新。</a:t>
            </a:r>
          </a:p>
          <a:p>
            <a:pPr>
              <a:spcAft>
                <a:spcPts val="500"/>
              </a:spcAft>
              <a:defRPr sz="1200">
                <a:solidFill>
                  <a:srgbClr val="0F172A"/>
                </a:solidFill>
                <a:latin typeface="微软雅黑"/>
              </a:defRPr>
            </a:pPr>
            <a:r>
              <a:t>• 规则执行闭包：确保每条规则仅激发一次，避免死锁。</a:t>
            </a:r>
          </a:p>
          <a:p>
            <a:pPr>
              <a:spcAft>
                <a:spcPts val="500"/>
              </a:spcAft>
              <a:defRPr sz="1200">
                <a:solidFill>
                  <a:srgbClr val="0F172A"/>
                </a:solidFill>
                <a:latin typeface="微软雅黑"/>
              </a:defRPr>
            </a:pPr>
            <a:r>
              <a:t>• 图谱属性检索：以物种实体为锚点，向外展开属性边查询。</a:t>
            </a:r>
          </a:p>
        </p:txBody>
      </p:sp>
      <p:sp>
        <p:nvSpPr>
          <p:cNvPr id="9" name="Rounded Rectangle 8"/>
          <p:cNvSpPr/>
          <p:nvPr/>
        </p:nvSpPr>
        <p:spPr>
          <a:xfrm>
            <a:off x="8046720" y="164592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1828800"/>
            <a:ext cx="2926080" cy="4206240"/>
          </a:xfrm>
          <a:prstGeom prst="rect">
            <a:avLst/>
          </a:prstGeom>
          <a:noFill/>
        </p:spPr>
        <p:txBody>
          <a:bodyPr wrap="square">
            <a:spAutoFit/>
          </a:bodyPr>
          <a:lstStyle/>
          <a:p>
            <a:pPr>
              <a:spcAft>
                <a:spcPts val="1000"/>
              </a:spcAft>
              <a:defRPr sz="1600" b="1">
                <a:solidFill>
                  <a:srgbClr val="1E3A8A"/>
                </a:solidFill>
                <a:latin typeface="微软雅黑"/>
              </a:defRPr>
            </a:pPr>
            <a:r>
              <a:t>3. 业务呈现层 (应用)</a:t>
            </a:r>
          </a:p>
          <a:p>
            <a:pPr>
              <a:spcAft>
                <a:spcPts val="500"/>
              </a:spcAft>
              <a:defRPr sz="1200">
                <a:solidFill>
                  <a:srgbClr val="0F172A"/>
                </a:solidFill>
                <a:latin typeface="微软雅黑"/>
              </a:defRPr>
            </a:pPr>
            <a:r>
              <a:t>• 物种最终精准锁定。</a:t>
            </a:r>
          </a:p>
          <a:p>
            <a:pPr>
              <a:spcAft>
                <a:spcPts val="500"/>
              </a:spcAft>
              <a:defRPr sz="1200">
                <a:solidFill>
                  <a:srgbClr val="0F172A"/>
                </a:solidFill>
                <a:latin typeface="微软雅黑"/>
              </a:defRPr>
            </a:pPr>
            <a:r>
              <a:t>• 推理链条透明展示（每一步触发了什么规则、基于什么前提）。</a:t>
            </a:r>
          </a:p>
          <a:p>
            <a:pPr>
              <a:spcAft>
                <a:spcPts val="500"/>
              </a:spcAft>
              <a:defRPr sz="1200">
                <a:solidFill>
                  <a:srgbClr val="0F172A"/>
                </a:solidFill>
                <a:latin typeface="微软雅黑"/>
              </a:defRPr>
            </a:pPr>
            <a:r>
              <a:t>• 拓展生态百科卡片。</a:t>
            </a:r>
          </a:p>
          <a:p>
            <a:pPr>
              <a:spcAft>
                <a:spcPts val="500"/>
              </a:spcAft>
              <a:defRPr sz="1200">
                <a:solidFill>
                  <a:srgbClr val="0F172A"/>
                </a:solidFill>
                <a:latin typeface="微软雅黑"/>
              </a:defRPr>
            </a:pPr>
            <a:r>
              <a:t>• 交互式 Web 演示面板。</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65760"/>
          </a:xfrm>
          <a:prstGeom prst="rect">
            <a:avLst/>
          </a:prstGeom>
          <a:noFill/>
        </p:spPr>
        <p:txBody>
          <a:bodyPr wrap="none">
            <a:spAutoFit/>
          </a:bodyPr>
          <a:lstStyle/>
          <a:p>
            <a:pPr>
              <a:defRPr sz="1100" b="1">
                <a:solidFill>
                  <a:srgbClr val="0EA5E9"/>
                </a:solidFill>
                <a:latin typeface="微软雅黑"/>
              </a:defRPr>
            </a:pPr>
            <a:r>
              <a:t>人工智能（26秋）课堂报告1：知识表示与推理</a:t>
            </a:r>
          </a:p>
        </p:txBody>
      </p:sp>
      <p:sp>
        <p:nvSpPr>
          <p:cNvPr id="4" name="TextBox 3"/>
          <p:cNvSpPr txBox="1"/>
          <p:nvPr/>
        </p:nvSpPr>
        <p:spPr>
          <a:xfrm>
            <a:off x="731520" y="640080"/>
            <a:ext cx="10515600" cy="731520"/>
          </a:xfrm>
          <a:prstGeom prst="rect">
            <a:avLst/>
          </a:prstGeom>
          <a:noFill/>
        </p:spPr>
        <p:txBody>
          <a:bodyPr wrap="none">
            <a:spAutoFit/>
          </a:bodyPr>
          <a:lstStyle/>
          <a:p>
            <a:pPr>
              <a:defRPr sz="2400" b="1">
                <a:solidFill>
                  <a:srgbClr val="1E3A8A"/>
                </a:solidFill>
                <a:latin typeface="微软雅黑"/>
              </a:defRPr>
            </a:pPr>
            <a:r>
              <a:t>知识表示实现：规则编码与图谱三元组</a:t>
            </a:r>
          </a:p>
        </p:txBody>
      </p:sp>
      <p:sp>
        <p:nvSpPr>
          <p:cNvPr id="5" name="Rounded Rectangle 4"/>
          <p:cNvSpPr/>
          <p:nvPr/>
        </p:nvSpPr>
        <p:spPr>
          <a:xfrm>
            <a:off x="731520" y="164592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663440" cy="4206240"/>
          </a:xfrm>
          <a:prstGeom prst="rect">
            <a:avLst/>
          </a:prstGeom>
          <a:noFill/>
        </p:spPr>
        <p:txBody>
          <a:bodyPr wrap="square">
            <a:spAutoFit/>
          </a:bodyPr>
          <a:lstStyle/>
          <a:p>
            <a:pPr>
              <a:spcAft>
                <a:spcPts val="1000"/>
              </a:spcAft>
              <a:defRPr sz="1600" b="1">
                <a:solidFill>
                  <a:srgbClr val="1E3A8A"/>
                </a:solidFill>
                <a:latin typeface="微软雅黑"/>
              </a:defRPr>
            </a:pPr>
            <a:r>
              <a:t>📋 产生式规则库设计 (13条经典规则)</a:t>
            </a:r>
          </a:p>
          <a:p>
            <a:pPr>
              <a:spcAft>
                <a:spcPts val="500"/>
              </a:spcAft>
              <a:defRPr sz="1200">
                <a:solidFill>
                  <a:srgbClr val="0F172A"/>
                </a:solidFill>
                <a:latin typeface="微软雅黑"/>
              </a:defRPr>
            </a:pPr>
            <a:r>
              <a:t>• R1: IF {有毛发} THEN 哺乳动物</a:t>
            </a:r>
          </a:p>
          <a:p>
            <a:pPr>
              <a:spcAft>
                <a:spcPts val="500"/>
              </a:spcAft>
              <a:defRPr sz="1200">
                <a:solidFill>
                  <a:srgbClr val="0F172A"/>
                </a:solidFill>
                <a:latin typeface="微软雅黑"/>
              </a:defRPr>
            </a:pPr>
            <a:r>
              <a:t>• R3: IF {有羽毛} THEN 鸟类</a:t>
            </a:r>
          </a:p>
          <a:p>
            <a:pPr>
              <a:spcAft>
                <a:spcPts val="500"/>
              </a:spcAft>
              <a:defRPr sz="1200">
                <a:solidFill>
                  <a:srgbClr val="0F172A"/>
                </a:solidFill>
                <a:latin typeface="微软雅黑"/>
              </a:defRPr>
            </a:pPr>
            <a:r>
              <a:t>• R5: IF {哺乳动物, 吃肉} THEN 食肉动物</a:t>
            </a:r>
          </a:p>
          <a:p>
            <a:pPr>
              <a:spcAft>
                <a:spcPts val="500"/>
              </a:spcAft>
              <a:defRPr sz="1200">
                <a:solidFill>
                  <a:srgbClr val="0F172A"/>
                </a:solidFill>
                <a:latin typeface="微软雅黑"/>
              </a:defRPr>
            </a:pPr>
            <a:r>
              <a:t>• R7: IF {哺乳动物, 有蹄} THEN 有蹄动物</a:t>
            </a:r>
          </a:p>
          <a:p>
            <a:pPr>
              <a:spcAft>
                <a:spcPts val="500"/>
              </a:spcAft>
              <a:defRPr sz="1200">
                <a:solidFill>
                  <a:srgbClr val="0F172A"/>
                </a:solidFill>
                <a:latin typeface="微软雅黑"/>
              </a:defRPr>
            </a:pPr>
            <a:r>
              <a:t>• R8: IF {食肉动物, 黄褐色, 有暗条纹} THEN 老虎</a:t>
            </a:r>
          </a:p>
          <a:p>
            <a:pPr>
              <a:spcAft>
                <a:spcPts val="500"/>
              </a:spcAft>
              <a:defRPr sz="1200">
                <a:solidFill>
                  <a:srgbClr val="0F172A"/>
                </a:solidFill>
                <a:latin typeface="微软雅黑"/>
              </a:defRPr>
            </a:pPr>
            <a:r>
              <a:t>• R9: IF {食肉动物, 黄褐色, 有黑色斑点} THEN 金钱豹</a:t>
            </a:r>
          </a:p>
          <a:p>
            <a:pPr>
              <a:spcAft>
                <a:spcPts val="500"/>
              </a:spcAft>
              <a:defRPr sz="1200">
                <a:solidFill>
                  <a:srgbClr val="0F172A"/>
                </a:solidFill>
                <a:latin typeface="微软雅黑"/>
              </a:defRPr>
            </a:pPr>
            <a:r>
              <a:t>• R11: IF {有蹄动物, 有黑白条纹} THEN 斑马</a:t>
            </a:r>
          </a:p>
          <a:p>
            <a:pPr>
              <a:spcAft>
                <a:spcPts val="500"/>
              </a:spcAft>
              <a:defRPr sz="1200">
                <a:solidFill>
                  <a:srgbClr val="0F172A"/>
                </a:solidFill>
                <a:latin typeface="微软雅黑"/>
              </a:defRPr>
            </a:pPr>
            <a:r>
              <a:t>• R13: IF {鸟类, 会游泳, 不会飞, 黑白二色} THEN 企鹅</a:t>
            </a:r>
          </a:p>
        </p:txBody>
      </p:sp>
      <p:sp>
        <p:nvSpPr>
          <p:cNvPr id="7" name="Rounded Rectangle 6"/>
          <p:cNvSpPr/>
          <p:nvPr/>
        </p:nvSpPr>
        <p:spPr>
          <a:xfrm>
            <a:off x="6217920" y="164592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28800"/>
            <a:ext cx="4663440" cy="4206240"/>
          </a:xfrm>
          <a:prstGeom prst="rect">
            <a:avLst/>
          </a:prstGeom>
          <a:noFill/>
        </p:spPr>
        <p:txBody>
          <a:bodyPr wrap="square">
            <a:spAutoFit/>
          </a:bodyPr>
          <a:lstStyle/>
          <a:p>
            <a:pPr>
              <a:spcAft>
                <a:spcPts val="1000"/>
              </a:spcAft>
              <a:defRPr sz="1600" b="1">
                <a:solidFill>
                  <a:srgbClr val="1E3A8A"/>
                </a:solidFill>
                <a:latin typeface="微软雅黑"/>
              </a:defRPr>
            </a:pPr>
            <a:r>
              <a:t>🔗 知识图谱三元组模式</a:t>
            </a:r>
          </a:p>
          <a:p>
            <a:pPr>
              <a:spcAft>
                <a:spcPts val="500"/>
              </a:spcAft>
              <a:defRPr sz="1200">
                <a:solidFill>
                  <a:srgbClr val="0F172A"/>
                </a:solidFill>
                <a:latin typeface="微软雅黑"/>
              </a:defRPr>
            </a:pPr>
            <a:r>
              <a:t>• (老虎, 生活环境, 森林与丛林)</a:t>
            </a:r>
          </a:p>
          <a:p>
            <a:pPr>
              <a:spcAft>
                <a:spcPts val="500"/>
              </a:spcAft>
              <a:defRPr sz="1200">
                <a:solidFill>
                  <a:srgbClr val="0F172A"/>
                </a:solidFill>
                <a:latin typeface="微软雅黑"/>
              </a:defRPr>
            </a:pPr>
            <a:r>
              <a:t>• (老虎, 保护级别, 国家一级重点保护野生动物)</a:t>
            </a:r>
          </a:p>
          <a:p>
            <a:pPr>
              <a:spcAft>
                <a:spcPts val="500"/>
              </a:spcAft>
              <a:defRPr sz="1200">
                <a:solidFill>
                  <a:srgbClr val="0F172A"/>
                </a:solidFill>
                <a:latin typeface="微软雅黑"/>
              </a:defRPr>
            </a:pPr>
            <a:r>
              <a:t>• (老虎, 食性, 肉食性捕食鹿/野猪)</a:t>
            </a:r>
          </a:p>
          <a:p>
            <a:pPr>
              <a:spcAft>
                <a:spcPts val="500"/>
              </a:spcAft>
              <a:defRPr sz="1200">
                <a:solidFill>
                  <a:srgbClr val="0F172A"/>
                </a:solidFill>
                <a:latin typeface="微软雅黑"/>
              </a:defRPr>
            </a:pPr>
            <a:r>
              <a:t>• (金钱豹, 保护级别, 国家一级重点保护野生动物)</a:t>
            </a:r>
          </a:p>
          <a:p>
            <a:pPr>
              <a:spcAft>
                <a:spcPts val="500"/>
              </a:spcAft>
              <a:defRPr sz="1200">
                <a:solidFill>
                  <a:srgbClr val="0F172A"/>
                </a:solidFill>
                <a:latin typeface="微软雅黑"/>
              </a:defRPr>
            </a:pPr>
            <a:r>
              <a:t>• (斑马, 天敌, 狮子/鬣狗)</a:t>
            </a:r>
          </a:p>
          <a:p>
            <a:pPr>
              <a:spcAft>
                <a:spcPts val="500"/>
              </a:spcAft>
              <a:defRPr sz="1200">
                <a:solidFill>
                  <a:srgbClr val="0F172A"/>
                </a:solidFill>
                <a:latin typeface="微软雅黑"/>
              </a:defRPr>
            </a:pPr>
            <a:r>
              <a:t>• (企鹅, 生活环境, 南极及极寒海域)</a:t>
            </a:r>
          </a:p>
          <a:p>
            <a:pPr>
              <a:spcAft>
                <a:spcPts val="500"/>
              </a:spcAft>
              <a:defRPr sz="1200">
                <a:solidFill>
                  <a:srgbClr val="0F172A"/>
                </a:solidFill>
                <a:latin typeface="微软雅黑"/>
              </a:defRPr>
            </a:pPr>
            <a:r>
              <a:t>• (企鹅, 特殊能力, 擅长潜水与耐严寒)</a:t>
            </a:r>
          </a:p>
          <a:p>
            <a:pPr>
              <a:spcAft>
                <a:spcPts val="500"/>
              </a:spcAft>
              <a:defRPr sz="1200">
                <a:solidFill>
                  <a:srgbClr val="0F172A"/>
                </a:solidFill>
                <a:latin typeface="微软雅黑"/>
              </a:defRPr>
            </a:pPr>
            <a:r>
              <a:t>• (鸵鸟, 特殊能力, 奔跑速度可达70km/h)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65760"/>
          </a:xfrm>
          <a:prstGeom prst="rect">
            <a:avLst/>
          </a:prstGeom>
          <a:noFill/>
        </p:spPr>
        <p:txBody>
          <a:bodyPr wrap="none">
            <a:spAutoFit/>
          </a:bodyPr>
          <a:lstStyle/>
          <a:p>
            <a:pPr>
              <a:defRPr sz="1100" b="1">
                <a:solidFill>
                  <a:srgbClr val="0EA5E9"/>
                </a:solidFill>
                <a:latin typeface="微软雅黑"/>
              </a:defRPr>
            </a:pPr>
            <a:r>
              <a:t>人工智能（26秋）课堂报告1：知识表示与推理</a:t>
            </a:r>
          </a:p>
        </p:txBody>
      </p:sp>
      <p:sp>
        <p:nvSpPr>
          <p:cNvPr id="4" name="TextBox 3"/>
          <p:cNvSpPr txBox="1"/>
          <p:nvPr/>
        </p:nvSpPr>
        <p:spPr>
          <a:xfrm>
            <a:off x="731520" y="640080"/>
            <a:ext cx="10515600" cy="731520"/>
          </a:xfrm>
          <a:prstGeom prst="rect">
            <a:avLst/>
          </a:prstGeom>
          <a:noFill/>
        </p:spPr>
        <p:txBody>
          <a:bodyPr wrap="none">
            <a:spAutoFit/>
          </a:bodyPr>
          <a:lstStyle/>
          <a:p>
            <a:pPr>
              <a:defRPr sz="2400" b="1">
                <a:solidFill>
                  <a:srgbClr val="1E3A8A"/>
                </a:solidFill>
                <a:latin typeface="微软雅黑"/>
              </a:defRPr>
            </a:pPr>
            <a:r>
              <a:t>核心算法：事实驱动正向演绎与图谱路径遍历</a:t>
            </a:r>
          </a:p>
        </p:txBody>
      </p:sp>
      <p:sp>
        <p:nvSpPr>
          <p:cNvPr id="5" name="Rounded Rectangle 4"/>
          <p:cNvSpPr/>
          <p:nvPr/>
        </p:nvSpPr>
        <p:spPr>
          <a:xfrm>
            <a:off x="731520" y="164592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663440" cy="4206240"/>
          </a:xfrm>
          <a:prstGeom prst="rect">
            <a:avLst/>
          </a:prstGeom>
          <a:noFill/>
        </p:spPr>
        <p:txBody>
          <a:bodyPr wrap="square">
            <a:spAutoFit/>
          </a:bodyPr>
          <a:lstStyle/>
          <a:p>
            <a:pPr>
              <a:spcAft>
                <a:spcPts val="1000"/>
              </a:spcAft>
              <a:defRPr sz="1600" b="1">
                <a:solidFill>
                  <a:srgbClr val="1E3A8A"/>
                </a:solidFill>
                <a:latin typeface="微软雅黑"/>
              </a:defRPr>
            </a:pPr>
            <a:r>
              <a:t>⚡ 算法1：正向产生式演绎机</a:t>
            </a:r>
          </a:p>
          <a:p>
            <a:pPr>
              <a:spcAft>
                <a:spcPts val="500"/>
              </a:spcAft>
              <a:defRPr sz="1200">
                <a:solidFill>
                  <a:srgbClr val="0F172A"/>
                </a:solidFill>
                <a:latin typeface="微软雅黑"/>
              </a:defRPr>
            </a:pPr>
            <a:r>
              <a:t>• 1. 初始化事实集合 Facts = 输入特征集合 S_input；</a:t>
            </a:r>
          </a:p>
          <a:p>
            <a:pPr>
              <a:spcAft>
                <a:spcPts val="500"/>
              </a:spcAft>
              <a:defRPr sz="1200">
                <a:solidFill>
                  <a:srgbClr val="0F172A"/>
                </a:solidFill>
                <a:latin typeface="微软雅黑"/>
              </a:defRPr>
            </a:pPr>
            <a:r>
              <a:t>• 2. 循环遍历规则库中未执行的规则 r；</a:t>
            </a:r>
          </a:p>
          <a:p>
            <a:pPr>
              <a:spcAft>
                <a:spcPts val="500"/>
              </a:spcAft>
              <a:defRPr sz="1200">
                <a:solidFill>
                  <a:srgbClr val="0F172A"/>
                </a:solidFill>
                <a:latin typeface="微软雅黑"/>
              </a:defRPr>
            </a:pPr>
            <a:r>
              <a:t>• 3. 判断规则前提是否满足：IF(r) ⊆ Facts；</a:t>
            </a:r>
          </a:p>
          <a:p>
            <a:pPr>
              <a:spcAft>
                <a:spcPts val="500"/>
              </a:spcAft>
              <a:defRPr sz="1200">
                <a:solidFill>
                  <a:srgbClr val="0F172A"/>
                </a:solidFill>
                <a:latin typeface="微软雅黑"/>
              </a:defRPr>
            </a:pPr>
            <a:r>
              <a:t>• 4. 若满足，将结论加入事实库：Facts = Facts ∪ {THEN(r)}；</a:t>
            </a:r>
          </a:p>
          <a:p>
            <a:pPr>
              <a:spcAft>
                <a:spcPts val="500"/>
              </a:spcAft>
              <a:defRPr sz="1200">
                <a:solidFill>
                  <a:srgbClr val="0F172A"/>
                </a:solidFill>
                <a:latin typeface="微软雅黑"/>
              </a:defRPr>
            </a:pPr>
            <a:r>
              <a:t>• 5. 标记规则 r 为已执行，记录推理步骤日志；</a:t>
            </a:r>
          </a:p>
          <a:p>
            <a:pPr>
              <a:spcAft>
                <a:spcPts val="500"/>
              </a:spcAft>
              <a:defRPr sz="1200">
                <a:solidFill>
                  <a:srgbClr val="0F172A"/>
                </a:solidFill>
                <a:latin typeface="微软雅黑"/>
              </a:defRPr>
            </a:pPr>
            <a:r>
              <a:t>• 6. 重复执行直到没有新规则被触发，输出最终识别物种。</a:t>
            </a:r>
          </a:p>
        </p:txBody>
      </p:sp>
      <p:sp>
        <p:nvSpPr>
          <p:cNvPr id="7" name="Rounded Rectangle 6"/>
          <p:cNvSpPr/>
          <p:nvPr/>
        </p:nvSpPr>
        <p:spPr>
          <a:xfrm>
            <a:off x="6217920" y="1645920"/>
            <a:ext cx="5120640" cy="4572000"/>
          </a:xfrm>
          <a:prstGeom prst="roundRect">
            <a:avLst/>
          </a:prstGeom>
          <a:solidFill>
            <a:srgbClr val="FFFFFF"/>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28800"/>
            <a:ext cx="4663440" cy="4206240"/>
          </a:xfrm>
          <a:prstGeom prst="rect">
            <a:avLst/>
          </a:prstGeom>
          <a:noFill/>
        </p:spPr>
        <p:txBody>
          <a:bodyPr wrap="square">
            <a:spAutoFit/>
          </a:bodyPr>
          <a:lstStyle/>
          <a:p>
            <a:pPr>
              <a:spcAft>
                <a:spcPts val="1000"/>
              </a:spcAft>
              <a:defRPr sz="1600" b="1">
                <a:solidFill>
                  <a:srgbClr val="0EA5E9"/>
                </a:solidFill>
                <a:latin typeface="微软雅黑"/>
              </a:defRPr>
            </a:pPr>
            <a:r>
              <a:t>🔍 算法2：知识图谱属性路径检索</a:t>
            </a:r>
          </a:p>
          <a:p>
            <a:pPr>
              <a:spcAft>
                <a:spcPts val="500"/>
              </a:spcAft>
              <a:defRPr sz="1200">
                <a:solidFill>
                  <a:srgbClr val="0F172A"/>
                </a:solidFill>
                <a:latin typeface="微软雅黑"/>
              </a:defRPr>
            </a:pPr>
            <a:r>
              <a:t>• 基于 NetworkX 有向图 (DiGraph) 结构：</a:t>
            </a:r>
          </a:p>
          <a:p>
            <a:pPr>
              <a:spcAft>
                <a:spcPts val="500"/>
              </a:spcAft>
              <a:defRPr sz="1200">
                <a:solidFill>
                  <a:srgbClr val="0F172A"/>
                </a:solidFill>
                <a:latin typeface="微软雅黑"/>
              </a:defRPr>
            </a:pPr>
            <a:r>
              <a:t>• 1. 将推导出的物种名称（如'老虎'）作为根节点；</a:t>
            </a:r>
          </a:p>
          <a:p>
            <a:pPr>
              <a:spcAft>
                <a:spcPts val="500"/>
              </a:spcAft>
              <a:defRPr sz="1200">
                <a:solidFill>
                  <a:srgbClr val="0F172A"/>
                </a:solidFill>
                <a:latin typeface="微软雅黑"/>
              </a:defRPr>
            </a:pPr>
            <a:r>
              <a:t>• 2. 检查图谱是否存在该实体节点：has_node(animal)；</a:t>
            </a:r>
          </a:p>
          <a:p>
            <a:pPr>
              <a:spcAft>
                <a:spcPts val="500"/>
              </a:spcAft>
              <a:defRPr sz="1200">
                <a:solidFill>
                  <a:srgbClr val="0F172A"/>
                </a:solidFill>
                <a:latin typeface="微软雅黑"/>
              </a:defRPr>
            </a:pPr>
            <a:r>
              <a:t>• 3. 遍历所有邻接出边：neighbors(animal)；</a:t>
            </a:r>
          </a:p>
          <a:p>
            <a:pPr>
              <a:spcAft>
                <a:spcPts val="500"/>
              </a:spcAft>
              <a:defRPr sz="1200">
                <a:solidFill>
                  <a:srgbClr val="0F172A"/>
                </a:solidFill>
                <a:latin typeface="微软雅黑"/>
              </a:defRPr>
            </a:pPr>
            <a:r>
              <a:t>• 4. 提取边上的关系属性：G[animal][neighbor]['relation']；</a:t>
            </a:r>
          </a:p>
          <a:p>
            <a:pPr>
              <a:spcAft>
                <a:spcPts val="500"/>
              </a:spcAft>
              <a:defRPr sz="1200">
                <a:solidFill>
                  <a:srgbClr val="0F172A"/>
                </a:solidFill>
                <a:latin typeface="微软雅黑"/>
              </a:defRPr>
            </a:pPr>
            <a:r>
              <a:t>• 5. 毫秒级输出对应的生态百科知识卡片。</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65760"/>
          </a:xfrm>
          <a:prstGeom prst="rect">
            <a:avLst/>
          </a:prstGeom>
          <a:noFill/>
        </p:spPr>
        <p:txBody>
          <a:bodyPr wrap="none">
            <a:spAutoFit/>
          </a:bodyPr>
          <a:lstStyle/>
          <a:p>
            <a:pPr>
              <a:defRPr sz="1100" b="1">
                <a:solidFill>
                  <a:srgbClr val="0EA5E9"/>
                </a:solidFill>
                <a:latin typeface="微软雅黑"/>
              </a:defRPr>
            </a:pPr>
            <a:r>
              <a:t>人工智能（26秋）课堂报告1：知识表示与推理</a:t>
            </a:r>
          </a:p>
        </p:txBody>
      </p:sp>
      <p:sp>
        <p:nvSpPr>
          <p:cNvPr id="4" name="TextBox 3"/>
          <p:cNvSpPr txBox="1"/>
          <p:nvPr/>
        </p:nvSpPr>
        <p:spPr>
          <a:xfrm>
            <a:off x="731520" y="640080"/>
            <a:ext cx="10515600" cy="731520"/>
          </a:xfrm>
          <a:prstGeom prst="rect">
            <a:avLst/>
          </a:prstGeom>
          <a:noFill/>
        </p:spPr>
        <p:txBody>
          <a:bodyPr wrap="none">
            <a:spAutoFit/>
          </a:bodyPr>
          <a:lstStyle/>
          <a:p>
            <a:pPr>
              <a:defRPr sz="2400" b="1">
                <a:solidFill>
                  <a:srgbClr val="1E3A8A"/>
                </a:solidFill>
                <a:latin typeface="微软雅黑"/>
              </a:defRPr>
            </a:pPr>
            <a:r>
              <a:t>核心任务(三)：系统实机演示与典型推理案例</a:t>
            </a:r>
          </a:p>
        </p:txBody>
      </p:sp>
      <p:sp>
        <p:nvSpPr>
          <p:cNvPr id="5" name="Rounded Rectangle 4"/>
          <p:cNvSpPr/>
          <p:nvPr/>
        </p:nvSpPr>
        <p:spPr>
          <a:xfrm>
            <a:off x="731520" y="1645920"/>
            <a:ext cx="47548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297680" cy="4206240"/>
          </a:xfrm>
          <a:prstGeom prst="rect">
            <a:avLst/>
          </a:prstGeom>
          <a:noFill/>
        </p:spPr>
        <p:txBody>
          <a:bodyPr wrap="square">
            <a:spAutoFit/>
          </a:bodyPr>
          <a:lstStyle/>
          <a:p>
            <a:pPr>
              <a:spcAft>
                <a:spcPts val="1000"/>
              </a:spcAft>
              <a:defRPr sz="1600" b="1">
                <a:solidFill>
                  <a:srgbClr val="1E3A8A"/>
                </a:solidFill>
                <a:latin typeface="微软雅黑"/>
              </a:defRPr>
            </a:pPr>
            <a:r>
              <a:t>💻 真实推理案例演示 (以识别老虎为例)</a:t>
            </a:r>
          </a:p>
          <a:p>
            <a:pPr>
              <a:spcAft>
                <a:spcPts val="500"/>
              </a:spcAft>
              <a:defRPr sz="1200">
                <a:solidFill>
                  <a:srgbClr val="0F172A"/>
                </a:solidFill>
                <a:latin typeface="微软雅黑"/>
              </a:defRPr>
            </a:pPr>
            <a:r>
              <a:t>• 【输入特征】: [有毛发, 吃肉, 黄褐色, 有暗条纹]</a:t>
            </a:r>
          </a:p>
          <a:p>
            <a:pPr>
              <a:spcAft>
                <a:spcPts val="500"/>
              </a:spcAft>
              <a:defRPr sz="1200">
                <a:solidFill>
                  <a:srgbClr val="0F172A"/>
                </a:solidFill>
                <a:latin typeface="微软雅黑"/>
              </a:defRPr>
            </a:pPr>
            <a:r>
              <a:t>• 【多步推导演绎过程】:</a:t>
            </a:r>
          </a:p>
          <a:p>
            <a:pPr>
              <a:spcAft>
                <a:spcPts val="500"/>
              </a:spcAft>
              <a:defRPr sz="1200">
                <a:solidFill>
                  <a:srgbClr val="0F172A"/>
                </a:solidFill>
                <a:latin typeface="微软雅黑"/>
              </a:defRPr>
            </a:pPr>
            <a:r>
              <a:t>  - 步骤1 触发 R1: 依据'有毛发' ➜ 推导出【哺乳动物】</a:t>
            </a:r>
          </a:p>
          <a:p>
            <a:pPr>
              <a:spcAft>
                <a:spcPts val="500"/>
              </a:spcAft>
              <a:defRPr sz="1200">
                <a:solidFill>
                  <a:srgbClr val="0F172A"/>
                </a:solidFill>
                <a:latin typeface="微软雅黑"/>
              </a:defRPr>
            </a:pPr>
            <a:r>
              <a:t>  - 步骤2 触发 R5: 依据'哺乳动物+吃肉' ➜ 推导出【食肉动物】</a:t>
            </a:r>
          </a:p>
          <a:p>
            <a:pPr>
              <a:spcAft>
                <a:spcPts val="500"/>
              </a:spcAft>
              <a:defRPr sz="1200">
                <a:solidFill>
                  <a:srgbClr val="0F172A"/>
                </a:solidFill>
                <a:latin typeface="微软雅黑"/>
              </a:defRPr>
            </a:pPr>
            <a:r>
              <a:t>  - 步骤3 触发 R8: 依据'食肉动物+黄褐色+暗条纹' ➜ 锁定【老虎】</a:t>
            </a:r>
          </a:p>
          <a:p>
            <a:pPr>
              <a:spcAft>
                <a:spcPts val="500"/>
              </a:spcAft>
              <a:defRPr sz="1200">
                <a:solidFill>
                  <a:srgbClr val="0F172A"/>
                </a:solidFill>
                <a:latin typeface="微软雅黑"/>
              </a:defRPr>
            </a:pPr>
            <a:r>
              <a:t>• 【图谱属性扩展】:</a:t>
            </a:r>
          </a:p>
          <a:p>
            <a:pPr>
              <a:spcAft>
                <a:spcPts val="500"/>
              </a:spcAft>
              <a:defRPr sz="1200">
                <a:solidFill>
                  <a:srgbClr val="0F172A"/>
                </a:solidFill>
                <a:latin typeface="微软雅黑"/>
              </a:defRPr>
            </a:pPr>
            <a:r>
              <a:t>  - 生活环境 ➜ 森林与丛林</a:t>
            </a:r>
          </a:p>
          <a:p>
            <a:pPr>
              <a:spcAft>
                <a:spcPts val="500"/>
              </a:spcAft>
              <a:defRPr sz="1200">
                <a:solidFill>
                  <a:srgbClr val="0F172A"/>
                </a:solidFill>
                <a:latin typeface="微软雅黑"/>
              </a:defRPr>
            </a:pPr>
            <a:r>
              <a:t>  - 保护级别 ➜ 国家一级重点保护野生动物</a:t>
            </a:r>
          </a:p>
          <a:p>
            <a:pPr>
              <a:spcAft>
                <a:spcPts val="500"/>
              </a:spcAft>
              <a:defRPr sz="1200">
                <a:solidFill>
                  <a:srgbClr val="0F172A"/>
                </a:solidFill>
                <a:latin typeface="微软雅黑"/>
              </a:defRPr>
            </a:pPr>
            <a:r>
              <a:t>• 特点：逻辑链条100%可溯源，耗时仅 0.5 毫秒！</a:t>
            </a:r>
          </a:p>
        </p:txBody>
      </p:sp>
      <p:pic>
        <p:nvPicPr>
          <p:cNvPr id="7" name="Picture 6" descr="knowledge_graph.png"/>
          <p:cNvPicPr>
            <a:picLocks noChangeAspect="1"/>
          </p:cNvPicPr>
          <p:nvPr/>
        </p:nvPicPr>
        <p:blipFill>
          <a:blip r:embed="rId2"/>
          <a:stretch>
            <a:fillRect/>
          </a:stretch>
        </p:blipFill>
        <p:spPr>
          <a:xfrm>
            <a:off x="5760720" y="1645920"/>
            <a:ext cx="5669280" cy="56692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65760"/>
          </a:xfrm>
          <a:prstGeom prst="rect">
            <a:avLst/>
          </a:prstGeom>
          <a:noFill/>
        </p:spPr>
        <p:txBody>
          <a:bodyPr wrap="none">
            <a:spAutoFit/>
          </a:bodyPr>
          <a:lstStyle/>
          <a:p>
            <a:pPr>
              <a:defRPr sz="1100" b="1">
                <a:solidFill>
                  <a:srgbClr val="0EA5E9"/>
                </a:solidFill>
                <a:latin typeface="微软雅黑"/>
              </a:defRPr>
            </a:pPr>
            <a:r>
              <a:t>人工智能（26秋）课堂报告1：知识表示与推理</a:t>
            </a:r>
          </a:p>
        </p:txBody>
      </p:sp>
      <p:sp>
        <p:nvSpPr>
          <p:cNvPr id="4" name="TextBox 3"/>
          <p:cNvSpPr txBox="1"/>
          <p:nvPr/>
        </p:nvSpPr>
        <p:spPr>
          <a:xfrm>
            <a:off x="731520" y="640080"/>
            <a:ext cx="10515600" cy="731520"/>
          </a:xfrm>
          <a:prstGeom prst="rect">
            <a:avLst/>
          </a:prstGeom>
          <a:noFill/>
        </p:spPr>
        <p:txBody>
          <a:bodyPr wrap="none">
            <a:spAutoFit/>
          </a:bodyPr>
          <a:lstStyle/>
          <a:p>
            <a:pPr>
              <a:defRPr sz="2400" b="1">
                <a:solidFill>
                  <a:srgbClr val="1E3A8A"/>
                </a:solidFill>
                <a:latin typeface="微软雅黑"/>
              </a:defRPr>
            </a:pPr>
            <a:r>
              <a:t>测试分析：多维度效能评估与指标对比</a:t>
            </a:r>
          </a:p>
        </p:txBody>
      </p:sp>
      <p:sp>
        <p:nvSpPr>
          <p:cNvPr id="5" name="Rounded Rectangle 4"/>
          <p:cNvSpPr/>
          <p:nvPr/>
        </p:nvSpPr>
        <p:spPr>
          <a:xfrm>
            <a:off x="731520" y="164592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926080" cy="4206240"/>
          </a:xfrm>
          <a:prstGeom prst="rect">
            <a:avLst/>
          </a:prstGeom>
          <a:noFill/>
        </p:spPr>
        <p:txBody>
          <a:bodyPr wrap="square">
            <a:spAutoFit/>
          </a:bodyPr>
          <a:lstStyle/>
          <a:p>
            <a:pPr>
              <a:spcAft>
                <a:spcPts val="1000"/>
              </a:spcAft>
              <a:defRPr sz="1600" b="1">
                <a:solidFill>
                  <a:srgbClr val="1E3A8A"/>
                </a:solidFill>
                <a:latin typeface="微软雅黑"/>
              </a:defRPr>
            </a:pPr>
            <a:r>
              <a:t>📊 4大测试用例验证</a:t>
            </a:r>
          </a:p>
          <a:p>
            <a:pPr>
              <a:spcAft>
                <a:spcPts val="500"/>
              </a:spcAft>
              <a:defRPr sz="1200">
                <a:solidFill>
                  <a:srgbClr val="0F172A"/>
                </a:solidFill>
                <a:latin typeface="微软雅黑"/>
              </a:defRPr>
            </a:pPr>
            <a:r>
              <a:t>• 用例1（老虎）：3步正向递推，100%精准识别。</a:t>
            </a:r>
          </a:p>
          <a:p>
            <a:pPr>
              <a:spcAft>
                <a:spcPts val="500"/>
              </a:spcAft>
              <a:defRPr sz="1200">
                <a:solidFill>
                  <a:srgbClr val="0F172A"/>
                </a:solidFill>
                <a:latin typeface="微软雅黑"/>
              </a:defRPr>
            </a:pPr>
            <a:r>
              <a:t>• 用例2（企鹅）：羽毛+会游泳+不会飞 ➜ 精准锁定企鹅并返回南极习性。</a:t>
            </a:r>
          </a:p>
          <a:p>
            <a:pPr>
              <a:spcAft>
                <a:spcPts val="500"/>
              </a:spcAft>
              <a:defRPr sz="1200">
                <a:solidFill>
                  <a:srgbClr val="0F172A"/>
                </a:solidFill>
                <a:latin typeface="微软雅黑"/>
              </a:defRPr>
            </a:pPr>
            <a:r>
              <a:t>• 用例3（斑马）：有毛发+有蹄+黑白条纹 ➜ 准确推导斑马并返回天敌信息。</a:t>
            </a:r>
          </a:p>
          <a:p>
            <a:pPr>
              <a:spcAft>
                <a:spcPts val="500"/>
              </a:spcAft>
              <a:defRPr sz="1200">
                <a:solidFill>
                  <a:srgbClr val="0F172A"/>
                </a:solidFill>
                <a:latin typeface="微软雅黑"/>
              </a:defRPr>
            </a:pPr>
            <a:r>
              <a:t>• 用例4（长颈鹿）：长脖子+长腿+暗斑点 ➜ 准确识别并给出世界最高陆生动物属性。</a:t>
            </a:r>
          </a:p>
        </p:txBody>
      </p:sp>
      <p:sp>
        <p:nvSpPr>
          <p:cNvPr id="7" name="Rounded Rectangle 6"/>
          <p:cNvSpPr/>
          <p:nvPr/>
        </p:nvSpPr>
        <p:spPr>
          <a:xfrm>
            <a:off x="4389120" y="1645920"/>
            <a:ext cx="3383280" cy="4572000"/>
          </a:xfrm>
          <a:prstGeom prst="roundRect">
            <a:avLst/>
          </a:prstGeom>
          <a:solidFill>
            <a:srgbClr val="FFFFFF"/>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828800"/>
            <a:ext cx="2926080" cy="4206240"/>
          </a:xfrm>
          <a:prstGeom prst="rect">
            <a:avLst/>
          </a:prstGeom>
          <a:noFill/>
        </p:spPr>
        <p:txBody>
          <a:bodyPr wrap="square">
            <a:spAutoFit/>
          </a:bodyPr>
          <a:lstStyle/>
          <a:p>
            <a:pPr>
              <a:spcAft>
                <a:spcPts val="1000"/>
              </a:spcAft>
              <a:defRPr sz="1600" b="1">
                <a:solidFill>
                  <a:srgbClr val="0EA5E9"/>
                </a:solidFill>
                <a:latin typeface="微软雅黑"/>
              </a:defRPr>
            </a:pPr>
            <a:r>
              <a:t>⏱️ 计算性能指标</a:t>
            </a:r>
          </a:p>
          <a:p>
            <a:pPr>
              <a:spcAft>
                <a:spcPts val="500"/>
              </a:spcAft>
              <a:defRPr sz="1200">
                <a:solidFill>
                  <a:srgbClr val="0F172A"/>
                </a:solidFill>
                <a:latin typeface="微软雅黑"/>
              </a:defRPr>
            </a:pPr>
            <a:r>
              <a:t>• 正向演绎推导耗时：&lt; 0.25 ms</a:t>
            </a:r>
          </a:p>
          <a:p>
            <a:pPr>
              <a:spcAft>
                <a:spcPts val="500"/>
              </a:spcAft>
              <a:defRPr sz="1200">
                <a:solidFill>
                  <a:srgbClr val="0F172A"/>
                </a:solidFill>
                <a:latin typeface="微软雅黑"/>
              </a:defRPr>
            </a:pPr>
            <a:r>
              <a:t>• 知识图谱邻接检索耗时：&lt; 0.15 ms</a:t>
            </a:r>
          </a:p>
          <a:p>
            <a:pPr>
              <a:spcAft>
                <a:spcPts val="500"/>
              </a:spcAft>
              <a:defRPr sz="1200">
                <a:solidFill>
                  <a:srgbClr val="0F172A"/>
                </a:solidFill>
                <a:latin typeface="微软雅黑"/>
              </a:defRPr>
            </a:pPr>
            <a:r>
              <a:t>• 端到端响应时间：&lt; 0.5 ms（真正瞬时响应）</a:t>
            </a:r>
          </a:p>
          <a:p>
            <a:pPr>
              <a:spcAft>
                <a:spcPts val="500"/>
              </a:spcAft>
              <a:defRPr sz="1200">
                <a:solidFill>
                  <a:srgbClr val="0F172A"/>
                </a:solidFill>
                <a:latin typeface="微软雅黑"/>
              </a:defRPr>
            </a:pPr>
            <a:r>
              <a:t>• 代码体量：仅 80 行纯 Python，极致轻量无负担。</a:t>
            </a:r>
          </a:p>
        </p:txBody>
      </p:sp>
      <p:sp>
        <p:nvSpPr>
          <p:cNvPr id="9" name="Rounded Rectangle 8"/>
          <p:cNvSpPr/>
          <p:nvPr/>
        </p:nvSpPr>
        <p:spPr>
          <a:xfrm>
            <a:off x="8046720" y="164592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1828800"/>
            <a:ext cx="2926080" cy="4206240"/>
          </a:xfrm>
          <a:prstGeom prst="rect">
            <a:avLst/>
          </a:prstGeom>
          <a:noFill/>
        </p:spPr>
        <p:txBody>
          <a:bodyPr wrap="square">
            <a:spAutoFit/>
          </a:bodyPr>
          <a:lstStyle/>
          <a:p>
            <a:pPr>
              <a:spcAft>
                <a:spcPts val="1000"/>
              </a:spcAft>
              <a:defRPr sz="1600" b="1">
                <a:solidFill>
                  <a:srgbClr val="1E3A8A"/>
                </a:solidFill>
                <a:latin typeface="微软雅黑"/>
              </a:defRPr>
            </a:pPr>
            <a:r>
              <a:t>🛡️ 可靠性对比</a:t>
            </a:r>
          </a:p>
          <a:p>
            <a:pPr>
              <a:spcAft>
                <a:spcPts val="500"/>
              </a:spcAft>
              <a:defRPr sz="1200">
                <a:solidFill>
                  <a:srgbClr val="0F172A"/>
                </a:solidFill>
                <a:latin typeface="微软雅黑"/>
              </a:defRPr>
            </a:pPr>
            <a:r>
              <a:t>• vs 传统查表检索：具备中间概念演绎能力。</a:t>
            </a:r>
          </a:p>
          <a:p>
            <a:pPr>
              <a:spcAft>
                <a:spcPts val="500"/>
              </a:spcAft>
              <a:defRPr sz="1200">
                <a:solidFill>
                  <a:srgbClr val="0F172A"/>
                </a:solidFill>
                <a:latin typeface="微软雅黑"/>
              </a:defRPr>
            </a:pPr>
            <a:r>
              <a:t>• vs 黑盒深度学习：推导全过程白盒透明，绝对零幻觉、零误导。</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365760"/>
          </a:xfrm>
          <a:prstGeom prst="rect">
            <a:avLst/>
          </a:prstGeom>
          <a:noFill/>
        </p:spPr>
        <p:txBody>
          <a:bodyPr wrap="none">
            <a:spAutoFit/>
          </a:bodyPr>
          <a:lstStyle/>
          <a:p>
            <a:pPr>
              <a:defRPr sz="1100" b="1">
                <a:solidFill>
                  <a:srgbClr val="0EA5E9"/>
                </a:solidFill>
                <a:latin typeface="微软雅黑"/>
              </a:defRPr>
            </a:pPr>
            <a:r>
              <a:t>人工智能（26秋）课堂报告1：知识表示与推理</a:t>
            </a:r>
          </a:p>
        </p:txBody>
      </p:sp>
      <p:sp>
        <p:nvSpPr>
          <p:cNvPr id="4" name="TextBox 3"/>
          <p:cNvSpPr txBox="1"/>
          <p:nvPr/>
        </p:nvSpPr>
        <p:spPr>
          <a:xfrm>
            <a:off x="731520" y="640080"/>
            <a:ext cx="10515600" cy="731520"/>
          </a:xfrm>
          <a:prstGeom prst="rect">
            <a:avLst/>
          </a:prstGeom>
          <a:noFill/>
        </p:spPr>
        <p:txBody>
          <a:bodyPr wrap="none">
            <a:spAutoFit/>
          </a:bodyPr>
          <a:lstStyle/>
          <a:p>
            <a:pPr>
              <a:defRPr sz="2400" b="1">
                <a:solidFill>
                  <a:srgbClr val="1E3A8A"/>
                </a:solidFill>
                <a:latin typeface="微软雅黑"/>
              </a:defRPr>
            </a:pPr>
            <a:r>
              <a:t>核心任务(四)：技术现存局限分析与前沿展望</a:t>
            </a:r>
          </a:p>
        </p:txBody>
      </p:sp>
      <p:sp>
        <p:nvSpPr>
          <p:cNvPr id="5" name="Rounded Rectangle 4"/>
          <p:cNvSpPr/>
          <p:nvPr/>
        </p:nvSpPr>
        <p:spPr>
          <a:xfrm>
            <a:off x="731520" y="164592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663440" cy="4206240"/>
          </a:xfrm>
          <a:prstGeom prst="rect">
            <a:avLst/>
          </a:prstGeom>
          <a:noFill/>
        </p:spPr>
        <p:txBody>
          <a:bodyPr wrap="square">
            <a:spAutoFit/>
          </a:bodyPr>
          <a:lstStyle/>
          <a:p>
            <a:pPr>
              <a:spcAft>
                <a:spcPts val="1000"/>
              </a:spcAft>
              <a:defRPr sz="1600" b="1">
                <a:solidFill>
                  <a:srgbClr val="1E3A8A"/>
                </a:solidFill>
                <a:latin typeface="微软雅黑"/>
              </a:defRPr>
            </a:pPr>
            <a:r>
              <a:t>🚧 当前知识表示与推理的现存局限</a:t>
            </a:r>
          </a:p>
          <a:p>
            <a:pPr>
              <a:spcAft>
                <a:spcPts val="500"/>
              </a:spcAft>
              <a:defRPr sz="1200">
                <a:solidFill>
                  <a:srgbClr val="0F172A"/>
                </a:solidFill>
                <a:latin typeface="微软雅黑"/>
              </a:defRPr>
            </a:pPr>
            <a:r>
              <a:t>• 知识获取瓶颈（Knowledge Bottleneck）：规则全靠手工整理录入，难以覆盖成千上万种罕见动植物。</a:t>
            </a:r>
          </a:p>
          <a:p>
            <a:pPr>
              <a:spcAft>
                <a:spcPts val="500"/>
              </a:spcAft>
              <a:defRPr sz="1200">
                <a:solidFill>
                  <a:srgbClr val="0F172A"/>
                </a:solidFill>
                <a:latin typeface="微软雅黑"/>
              </a:defRPr>
            </a:pPr>
            <a:r>
              <a:t>• 缺乏模糊容错能力：用户输入特征若不完全匹配（如文字表述不一致），推理将直接中断。</a:t>
            </a:r>
          </a:p>
          <a:p>
            <a:pPr>
              <a:spcAft>
                <a:spcPts val="500"/>
              </a:spcAft>
              <a:defRPr sz="1200">
                <a:solidFill>
                  <a:srgbClr val="0F172A"/>
                </a:solidFill>
                <a:latin typeface="微软雅黑"/>
              </a:defRPr>
            </a:pPr>
            <a:r>
              <a:t>• 不确定性建模欠缺：经典产生式是确定性的二值逻辑，无法直接处理'可能'、'大概'等概率表述。</a:t>
            </a:r>
          </a:p>
        </p:txBody>
      </p:sp>
      <p:sp>
        <p:nvSpPr>
          <p:cNvPr id="7" name="Rounded Rectangle 6"/>
          <p:cNvSpPr/>
          <p:nvPr/>
        </p:nvSpPr>
        <p:spPr>
          <a:xfrm>
            <a:off x="6217920" y="1645920"/>
            <a:ext cx="5120640" cy="4572000"/>
          </a:xfrm>
          <a:prstGeom prst="roundRect">
            <a:avLst/>
          </a:prstGeom>
          <a:solidFill>
            <a:srgbClr val="FFFFFF"/>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28800"/>
            <a:ext cx="4663440" cy="4206240"/>
          </a:xfrm>
          <a:prstGeom prst="rect">
            <a:avLst/>
          </a:prstGeom>
          <a:noFill/>
        </p:spPr>
        <p:txBody>
          <a:bodyPr wrap="square">
            <a:spAutoFit/>
          </a:bodyPr>
          <a:lstStyle/>
          <a:p>
            <a:pPr>
              <a:spcAft>
                <a:spcPts val="1000"/>
              </a:spcAft>
              <a:defRPr sz="1600" b="1">
                <a:solidFill>
                  <a:srgbClr val="0EA5E9"/>
                </a:solidFill>
                <a:latin typeface="微软雅黑"/>
              </a:defRPr>
            </a:pPr>
            <a:r>
              <a:t>🚀 未来发展方向：神经符号混合智能</a:t>
            </a:r>
          </a:p>
          <a:p>
            <a:pPr>
              <a:spcAft>
                <a:spcPts val="500"/>
              </a:spcAft>
              <a:defRPr sz="1200">
                <a:solidFill>
                  <a:srgbClr val="0F172A"/>
                </a:solidFill>
                <a:latin typeface="微软雅黑"/>
              </a:defRPr>
            </a:pPr>
            <a:r>
              <a:t>• 视觉大模型 + 知识推理：利用视觉模型（YOLO/CLIP）从真实动物照片中自动识别出特征，再输入本系统进行严密因果归因。</a:t>
            </a:r>
          </a:p>
          <a:p>
            <a:pPr>
              <a:spcAft>
                <a:spcPts val="500"/>
              </a:spcAft>
              <a:defRPr sz="1200">
                <a:solidFill>
                  <a:srgbClr val="0F172A"/>
                </a:solidFill>
                <a:latin typeface="微软雅黑"/>
              </a:defRPr>
            </a:pPr>
            <a:r>
              <a:t>• 融合不确定性推理：引入主观逻辑或可信度因子（CF），支持模糊置信度加权推导。</a:t>
            </a:r>
          </a:p>
          <a:p>
            <a:pPr>
              <a:spcAft>
                <a:spcPts val="500"/>
              </a:spcAft>
              <a:defRPr sz="1200">
                <a:solidFill>
                  <a:srgbClr val="0F172A"/>
                </a:solidFill>
                <a:latin typeface="微软雅黑"/>
              </a:defRPr>
            </a:pPr>
            <a:r>
              <a:t>• 图神经网络补全：利用知识图谱嵌入算法（TransE）自动预测未知的动物食性与生态关系。</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18320" cy="3474720"/>
          </a:xfrm>
          <a:prstGeom prst="rect">
            <a:avLst/>
          </a:prstGeom>
          <a:noFill/>
        </p:spPr>
        <p:txBody>
          <a:bodyPr wrap="square">
            <a:spAutoFit/>
          </a:bodyPr>
          <a:lstStyle/>
          <a:p>
            <a:pPr>
              <a:spcAft>
                <a:spcPts val="2000"/>
              </a:spcAft>
              <a:defRPr sz="2800" b="1">
                <a:solidFill>
                  <a:srgbClr val="0EA5E9"/>
                </a:solidFill>
                <a:latin typeface="微软雅黑"/>
              </a:defRPr>
            </a:pPr>
            <a:r>
              <a:t>实践总结与团队收获</a:t>
            </a:r>
          </a:p>
          <a:p>
            <a:pPr>
              <a:spcAft>
                <a:spcPts val="1000"/>
              </a:spcAft>
              <a:defRPr sz="1500">
                <a:solidFill>
                  <a:srgbClr val="FFFFFF"/>
                </a:solidFill>
                <a:latin typeface="微软雅黑"/>
              </a:defRPr>
            </a:pPr>
            <a:r>
              <a:t>✔ 深入掌握了产生式规则与知识图谱两种主流知识表示方法的核心机制与优缺点；</a:t>
            </a:r>
          </a:p>
          <a:p>
            <a:pPr>
              <a:spcAft>
                <a:spcPts val="1000"/>
              </a:spcAft>
              <a:defRPr sz="1500">
                <a:solidFill>
                  <a:srgbClr val="FFFFFF"/>
                </a:solidFill>
                <a:latin typeface="微软雅黑"/>
              </a:defRPr>
            </a:pPr>
            <a:r>
              <a:t>✔ 独立开发了经典的正向产生式推理机与动物百科图谱检索算法，实现白盒透明推导；</a:t>
            </a:r>
          </a:p>
          <a:p>
            <a:pPr>
              <a:spcAft>
                <a:spcPts val="1000"/>
              </a:spcAft>
              <a:defRPr sz="1500">
                <a:solidFill>
                  <a:srgbClr val="FFFFFF"/>
                </a:solidFill>
                <a:latin typeface="微软雅黑"/>
              </a:defRPr>
            </a:pPr>
            <a:r>
              <a:t>✔ 深刻体会到了符号主义人工智能在逻辑演绎、可解释性与因果决策上的独特优势；</a:t>
            </a:r>
          </a:p>
          <a:p>
            <a:pPr>
              <a:spcAft>
                <a:spcPts val="1000"/>
              </a:spcAft>
              <a:defRPr sz="1500">
                <a:solidFill>
                  <a:srgbClr val="FFFFFF"/>
                </a:solidFill>
                <a:latin typeface="微软雅黑"/>
              </a:defRPr>
            </a:pPr>
            <a:r>
              <a:t>✔ 团队分工明确，圆满完成了从知识建模、代码开发、报告撰写到演示汇报的全套工作。</a:t>
            </a:r>
          </a:p>
          <a:p>
            <a:br/>
            <a:pPr>
              <a:defRPr sz="1800" b="1">
                <a:solidFill>
                  <a:srgbClr val="0EA5E9"/>
                </a:solidFill>
                <a:latin typeface="微软雅黑"/>
              </a:defRPr>
            </a:pPr>
            <a:r>
              <a:t>感谢各位老师与同学的聆听！欢迎交流讨论！</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